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39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Personica Agent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7132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 AI Agent 프레임에 Profile과 Emotion &amp; Cognition Engine이 추가되어, 감정 판단을 LLM 바깥의 구조화된 계산으로 분리합니다.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1064240" cy="0"/>
          </a:xfrm>
          <a:prstGeom prst="line">
            <a:avLst/>
          </a:prstGeom>
          <a:noFill/>
          <a:ln w="1397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34747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3749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8933688" y="3840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89720" y="347472"/>
            <a:ext cx="841248" cy="237744"/>
          </a:xfrm>
          <a:prstGeom prst="roundRect">
            <a:avLst>
              <a:gd name="adj" fmla="val 30769"/>
            </a:avLst>
          </a:prstGeom>
          <a:solidFill>
            <a:srgbClr val="FFF0E5"/>
          </a:solidFill>
          <a:ln w="10160">
            <a:solidFill>
              <a:srgbClr val="FFF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9720" y="3749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Think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0067544" y="3840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332720" y="347472"/>
            <a:ext cx="749808" cy="237744"/>
          </a:xfrm>
          <a:prstGeom prst="roundRect">
            <a:avLst>
              <a:gd name="adj" fmla="val 30769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0" y="37490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11091672" y="3840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&gt;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320272" y="34747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DFF7F4"/>
          </a:solidFill>
          <a:ln w="10160">
            <a:solidFill>
              <a:srgbClr val="DFF7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20272" y="374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749808" y="1261872"/>
            <a:ext cx="10698480" cy="530352"/>
          </a:xfrm>
          <a:prstGeom prst="roundRect">
            <a:avLst>
              <a:gd name="adj" fmla="val 137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141732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1F4068"/>
          </a:solidFill>
          <a:ln w="10160">
            <a:solidFill>
              <a:srgbClr val="1F4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14447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D9E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ENVIRONMENT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148840" y="1417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웹/앱 (브라우저)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" y="1993392"/>
            <a:ext cx="10881360" cy="4279392"/>
          </a:xfrm>
          <a:prstGeom prst="roundRect">
            <a:avLst>
              <a:gd name="adj" fmla="val 2564"/>
            </a:avLst>
          </a:prstGeom>
          <a:solidFill>
            <a:srgbClr val="FCFDFE">
              <a:alpha val="98000"/>
            </a:srgbClr>
          </a:solidFill>
          <a:ln w="17780">
            <a:solidFill>
              <a:srgbClr val="D7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1856232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1016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18836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PERSONA AGENT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2304288"/>
            <a:ext cx="2029968" cy="896112"/>
          </a:xfrm>
          <a:prstGeom prst="roundRect">
            <a:avLst>
              <a:gd name="adj" fmla="val 8163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2416" y="241401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2441448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060704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60704" y="2999232"/>
            <a:ext cx="1737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3550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 접근성 스냅샷 수신 · 파싱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914400" y="3456432"/>
            <a:ext cx="2029968" cy="1042416"/>
          </a:xfrm>
          <a:prstGeom prst="roundRect">
            <a:avLst>
              <a:gd name="adj" fmla="val 7018"/>
            </a:avLst>
          </a:prstGeom>
          <a:solidFill>
            <a:srgbClr val="FFF0E5"/>
          </a:solidFill>
          <a:ln w="17780">
            <a:solidFill>
              <a:srgbClr val="FDBA8C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2416" y="3566160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FFE2D0"/>
          </a:solidFill>
          <a:ln w="10160">
            <a:solidFill>
              <a:srgbClr val="FFE2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359359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 ONLY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060704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2410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Profile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60704" y="41513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7A3B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Big Five 성격 → 행동 파라미터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7A3B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숙련도 · JTBD · 인구통계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291840" y="2212848"/>
            <a:ext cx="316382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7780">
            <a:solidFill>
              <a:srgbClr val="D7DFEA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19856" y="2322576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350008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438144" y="2596896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Brain (LLM)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438144" y="28712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35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해석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435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1인칭 사고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435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의도 생성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547872" y="3346704"/>
            <a:ext cx="2688336" cy="347472"/>
          </a:xfrm>
          <a:prstGeom prst="roundRect">
            <a:avLst>
              <a:gd name="adj" fmla="val 15789"/>
            </a:avLst>
          </a:prstGeom>
          <a:solidFill>
            <a:srgbClr val="FFE3EA"/>
          </a:solidFill>
          <a:ln w="10160">
            <a:solidFill>
              <a:srgbClr val="F9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355848"/>
            <a:ext cx="2395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E12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 상태를 외부에서 주입받음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6821424" y="2340864"/>
            <a:ext cx="1883664" cy="969264"/>
          </a:xfrm>
          <a:prstGeom prst="roundRect">
            <a:avLst>
              <a:gd name="adj" fmla="val 7547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49440" y="245059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478024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967728" y="27249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Planning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67728" y="303580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3550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분해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3550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스텝 결정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3657600" y="4169664"/>
            <a:ext cx="4462272" cy="1298448"/>
          </a:xfrm>
          <a:prstGeom prst="roundRect">
            <a:avLst>
              <a:gd name="adj" fmla="val 5634"/>
            </a:avLst>
          </a:prstGeom>
          <a:solidFill>
            <a:srgbClr val="FFF0E5"/>
          </a:solidFill>
          <a:ln w="17780">
            <a:solidFill>
              <a:srgbClr val="FDBA8C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85616" y="4279392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FFE2D0"/>
          </a:solidFill>
          <a:ln w="10160">
            <a:solidFill>
              <a:srgbClr val="FFE2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30682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 ONLY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803904" y="455371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2410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Emotion &amp; Cognition Engine</a:t>
            </a:r>
            <a:endParaRPr lang="en-US" sz="1440" dirty="0"/>
          </a:p>
        </p:txBody>
      </p:sp>
      <p:sp>
        <p:nvSpPr>
          <p:cNvPr id="49" name="Text 47"/>
          <p:cNvSpPr/>
          <p:nvPr/>
        </p:nvSpPr>
        <p:spPr>
          <a:xfrm>
            <a:off x="3803904" y="486460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7A3B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인지: 인지부하 · 기대 괴리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7A3B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감정: OCC → PAD → SDE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7A3B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판단: Fogg 체크 · 만족 판정 · 이탈 임계치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8979408" y="4151376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DFF7F4"/>
          </a:solidFill>
          <a:ln w="17780">
            <a:solidFill>
              <a:srgbClr val="98E1D7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107424" y="4261104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D7F8F2"/>
          </a:solidFill>
          <a:ln w="10160">
            <a:solidFill>
              <a:srgbClr val="D7F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0576" y="4288536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9125712" y="453542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Tools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125712" y="48463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0E5A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click · type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0E5A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scroll · back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0E5A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abandon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932688" y="5596128"/>
            <a:ext cx="9802368" cy="475488"/>
          </a:xfrm>
          <a:prstGeom prst="roundRect">
            <a:avLst>
              <a:gd name="adj" fmla="val 15385"/>
            </a:avLst>
          </a:prstGeom>
          <a:solidFill>
            <a:srgbClr val="EEF2F8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8992" y="571500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E2E8F0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52144" y="574243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2048256" y="5742432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단기: 현재 세션 행동 로그 · 감정 궤적   |   장기: 기억 스트림 · 반추 · 습관 강도 · 만족 추이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1828800" y="1792224"/>
            <a:ext cx="0" cy="475488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1947672" y="1737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944368" y="3822192"/>
            <a:ext cx="329184" cy="0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944368" y="2761488"/>
            <a:ext cx="31089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870448" y="4133088"/>
            <a:ext cx="0" cy="0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6062472" y="38039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감정·인지 상태 주입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6437376" y="2779776"/>
            <a:ext cx="347472" cy="0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723376" y="2834640"/>
            <a:ext cx="658368" cy="1316736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716768" y="4160520"/>
            <a:ext cx="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10149840" y="1874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4864608" y="3877056"/>
            <a:ext cx="0" cy="256032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741664" y="2139696"/>
            <a:ext cx="2395728" cy="457200"/>
          </a:xfrm>
          <a:prstGeom prst="roundRect">
            <a:avLst>
              <a:gd name="adj" fmla="val 16000"/>
            </a:avLst>
          </a:prstGeom>
          <a:solidFill>
            <a:srgbClr val="FFF7D6"/>
          </a:solidFill>
          <a:ln w="11430">
            <a:solidFill>
              <a:srgbClr val="F5D2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51392" y="2212848"/>
            <a:ext cx="219456" cy="219456"/>
          </a:xfrm>
          <a:prstGeom prst="ellipse">
            <a:avLst/>
          </a:prstGeom>
          <a:solidFill>
            <a:srgbClr val="FFF7D6"/>
          </a:solidFill>
          <a:ln w="11430">
            <a:solidFill>
              <a:srgbClr val="F5C45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61120" y="2258568"/>
            <a:ext cx="0" cy="82296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8938260" y="2372868"/>
            <a:ext cx="45720" cy="45720"/>
          </a:xfrm>
          <a:prstGeom prst="ellipse">
            <a:avLst/>
          </a:prstGeom>
          <a:solidFill>
            <a:srgbClr val="B45309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25712" y="22311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D9770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차별점: 감정을 LLM이 즉흥적으로 정하는 대신, 외부 수학 엔진이 계산한 상태를 Brain에 주입합니다.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General AI Agent vs Personica Agent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7132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구조는 같지만, Personica는 Profile과 Emotion &amp; Cognition Engine을 분리 모듈로 추가해 감정 계산과 페르소나 분화를 통제합니다.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11064240" cy="0"/>
          </a:xfrm>
          <a:prstGeom prst="line">
            <a:avLst/>
          </a:prstGeom>
          <a:noFill/>
          <a:ln w="1397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61872"/>
            <a:ext cx="5321808" cy="4334256"/>
          </a:xfrm>
          <a:prstGeom prst="roundRect">
            <a:avLst>
              <a:gd name="adj" fmla="val 2532"/>
            </a:avLst>
          </a:prstGeom>
          <a:solidFill>
            <a:srgbClr val="F8FBFF"/>
          </a:solidFill>
          <a:ln w="15240">
            <a:solidFill>
              <a:srgbClr val="D6E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26464"/>
            <a:ext cx="1353312" cy="237744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 w="10160">
            <a:solidFill>
              <a:srgbClr val="E8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538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STANDARD AGENT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일반 AI Agent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1682496" y="1993392"/>
            <a:ext cx="3072384" cy="566928"/>
          </a:xfrm>
          <a:prstGeom prst="roundRect">
            <a:avLst>
              <a:gd name="adj" fmla="val 12903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13969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17904" y="2761488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7780">
            <a:solidFill>
              <a:srgbClr val="D7DFEA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64208" y="2907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Brain (LLM)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664208" y="3218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1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· 판단 · 감정도 LLM이 직접 판단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1682496" y="3822192"/>
            <a:ext cx="3072384" cy="566928"/>
          </a:xfrm>
          <a:prstGeom prst="roundRect">
            <a:avLst>
              <a:gd name="adj" fmla="val 12903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96849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17904" y="4517136"/>
            <a:ext cx="3401568" cy="493776"/>
          </a:xfrm>
          <a:prstGeom prst="roundRect">
            <a:avLst>
              <a:gd name="adj" fmla="val 14815"/>
            </a:avLst>
          </a:prstGeom>
          <a:solidFill>
            <a:srgbClr val="DFF7F4"/>
          </a:solidFill>
          <a:ln w="17780">
            <a:solidFill>
              <a:srgbClr val="98E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766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Tools → Action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517904" y="5120640"/>
            <a:ext cx="3401568" cy="201168"/>
          </a:xfrm>
          <a:prstGeom prst="roundRect">
            <a:avLst>
              <a:gd name="adj" fmla="val 36364"/>
            </a:avLst>
          </a:prstGeom>
          <a:solidFill>
            <a:srgbClr val="EEF2F8"/>
          </a:solidFill>
          <a:ln w="17780">
            <a:solidFill>
              <a:srgbClr val="EEF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5266944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Memory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218688" y="2560320"/>
            <a:ext cx="0" cy="182880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18688" y="3712464"/>
            <a:ext cx="0" cy="91440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18688" y="4389120"/>
            <a:ext cx="0" cy="109728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17920" y="1261872"/>
            <a:ext cx="5321808" cy="4334256"/>
          </a:xfrm>
          <a:prstGeom prst="roundRect">
            <a:avLst>
              <a:gd name="adj" fmla="val 2532"/>
            </a:avLst>
          </a:prstGeom>
          <a:solidFill>
            <a:srgbClr val="FFF9F5"/>
          </a:solidFill>
          <a:ln w="15240">
            <a:solidFill>
              <a:srgbClr val="F5C6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1426464"/>
            <a:ext cx="1353312" cy="237744"/>
          </a:xfrm>
          <a:prstGeom prst="roundRect">
            <a:avLst>
              <a:gd name="adj" fmla="val 23077"/>
            </a:avLst>
          </a:prstGeom>
          <a:solidFill>
            <a:srgbClr val="FFF0E5"/>
          </a:solidFill>
          <a:ln w="10160">
            <a:solidFill>
              <a:srgbClr val="FFF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4538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 AGENT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6400800" y="1664208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Personica Agent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7296912" y="1956816"/>
            <a:ext cx="3127248" cy="457200"/>
          </a:xfrm>
          <a:prstGeom prst="roundRect">
            <a:avLst>
              <a:gd name="adj" fmla="val 16000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3216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Perception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7132320" y="2578608"/>
            <a:ext cx="3456432" cy="530352"/>
          </a:xfrm>
          <a:prstGeom prst="roundRect">
            <a:avLst>
              <a:gd name="adj" fmla="val 13793"/>
            </a:avLst>
          </a:prstGeom>
          <a:solidFill>
            <a:srgbClr val="FFF0E5"/>
          </a:solidFill>
          <a:ln w="17780">
            <a:solidFill>
              <a:srgbClr val="FDB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272491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C2410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Profile (Big Five → 행동 파라미터)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7168896" y="3310128"/>
            <a:ext cx="3383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D7DFEA"/>
            </a:solidFill>
            <a:prstDash val="solid"/>
          </a:ln>
          <a:effectLst>
            <a:outerShdw blurRad="25400" dist="12700" dir="2700000" algn="bl" rotWithShape="0">
              <a:srgbClr val="93A4BF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345643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Brain (LLM)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7315200" y="373075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· 사고 + 외부 계산 감정 상태 주입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11696" y="4315968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E8F0FF"/>
          </a:solidFill>
          <a:ln w="17780">
            <a:solidFill>
              <a:srgbClr val="B8C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446227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63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Planning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8613648" y="4169664"/>
            <a:ext cx="2157984" cy="841248"/>
          </a:xfrm>
          <a:prstGeom prst="roundRect">
            <a:avLst>
              <a:gd name="adj" fmla="val 8696"/>
            </a:avLst>
          </a:prstGeom>
          <a:solidFill>
            <a:srgbClr val="FFF0E5"/>
          </a:solidFill>
          <a:ln w="17780">
            <a:solidFill>
              <a:srgbClr val="FDB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43159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C2410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Emotion &amp;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C2410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Cognition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8759952" y="473659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외부 수학 계산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7150608" y="5084064"/>
            <a:ext cx="3438144" cy="310896"/>
          </a:xfrm>
          <a:prstGeom prst="roundRect">
            <a:avLst>
              <a:gd name="adj" fmla="val 23529"/>
            </a:avLst>
          </a:prstGeom>
          <a:solidFill>
            <a:srgbClr val="DFF7F4"/>
          </a:solidFill>
          <a:ln w="17780">
            <a:solidFill>
              <a:srgbClr val="98E1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5230368"/>
            <a:ext cx="3145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F766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Tools → Action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7150608" y="5486400"/>
            <a:ext cx="3438144" cy="164592"/>
          </a:xfrm>
          <a:prstGeom prst="roundRect">
            <a:avLst>
              <a:gd name="adj" fmla="val 44444"/>
            </a:avLst>
          </a:prstGeom>
          <a:solidFill>
            <a:srgbClr val="EEF2F8"/>
          </a:solidFill>
          <a:ln w="17780">
            <a:solidFill>
              <a:srgbClr val="EEF2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96912" y="5632704"/>
            <a:ext cx="3145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203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Memory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860536" y="2414016"/>
            <a:ext cx="0" cy="146304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860536" y="3108960"/>
            <a:ext cx="0" cy="182880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394192" y="4096512"/>
            <a:ext cx="0" cy="201168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92640" y="4169664"/>
            <a:ext cx="0" cy="0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869680" y="5010912"/>
            <a:ext cx="0" cy="54864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869680" y="5394960"/>
            <a:ext cx="0" cy="73152"/>
          </a:xfrm>
          <a:prstGeom prst="line">
            <a:avLst/>
          </a:prstGeom>
          <a:noFill/>
          <a:ln w="2032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9808" y="5779008"/>
            <a:ext cx="358444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" y="5888736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FFF0E5"/>
          </a:solidFill>
          <a:ln w="10160">
            <a:solidFill>
              <a:srgbClr val="FFF0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59161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Emotion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77824" y="6199632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일반: 감정을 LLM이 직접 판단</a:t>
            </a:r>
            <a:endParaRPr lang="en-US" sz="810" dirty="0"/>
          </a:p>
        </p:txBody>
      </p:sp>
      <p:sp>
        <p:nvSpPr>
          <p:cNvPr id="53" name="Text 51"/>
          <p:cNvSpPr/>
          <p:nvPr/>
        </p:nvSpPr>
        <p:spPr>
          <a:xfrm>
            <a:off x="877824" y="6391656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C241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Personica: 수학 계산 후 LLM에 주입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4553712" y="5779008"/>
            <a:ext cx="305409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5888736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FFE3EA"/>
          </a:solidFill>
          <a:ln w="10160">
            <a:solidFill>
              <a:srgbClr val="FFE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59161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BE12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Bias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681728" y="6199632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일반: 긍정 편향이 그대로 노출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4681728" y="639165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BE12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Personica: 구조적으로 완화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7827264" y="5779008"/>
            <a:ext cx="360273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36992" y="5888736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10144" y="59161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Differentiation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7955280" y="6199632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070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일반: 페르소나 분화가 약함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7955280" y="6391656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Personica: 페르소나별 다른 반응 보장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와이드스크린</PresentationFormat>
  <Paragraphs>78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NanumSquare</vt:lpstr>
      <vt:lpstr>Noto Sans CJK KR</vt:lpstr>
      <vt:lpstr>Arial</vt:lpstr>
      <vt:lpstr>Office Theme</vt:lpstr>
      <vt:lpstr>PowerPoint 프레젠테이션</vt:lpstr>
      <vt:lpstr>PowerPoint 프레젠테이션</vt:lpstr>
    </vt:vector>
  </TitlesOfParts>
  <Company>Personica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Personica Agent Architecture</dc:title>
  <dc:subject>Personica Agent Architecture</dc:subject>
  <dc:creator>OpenAI Codex</dc:creator>
  <cp:lastModifiedBy>성 유</cp:lastModifiedBy>
  <cp:revision>2</cp:revision>
  <dcterms:created xsi:type="dcterms:W3CDTF">2026-03-22T06:25:32Z</dcterms:created>
  <dcterms:modified xsi:type="dcterms:W3CDTF">2026-03-22T06:26:05Z</dcterms:modified>
</cp:coreProperties>
</file>